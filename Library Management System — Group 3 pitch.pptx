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brief as a copy-level scheduling problem: the library loses track of which physical copy is committed to whom, for which dates. Stakeholders: three member types (students, researchers, professors) who borrow, the librarian who reviews and hands out books, and the library head who wants insight. We prioritised one complete lending lifecycle: request, review, reserve, issue, return, plus reject and cancel, because every business condition in the brief hangs off it. The rules on this slide are all enforced in code and each has an automated test. Key assumptions: the copy counts in the data table were misaligned, so we read Clean Code as 4 copies and AI as 3; the seed dates are in August 2026, so the app has a demo clock; loan limits depend on member type; a copy is held from the moment a request is submitted, which is what makes "rejecting releases the copy" meaningful. Out of scope: login, fines, renewals, waitlists and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Streamlit pages only display results and errors; every business rule lives in a plain Python service layer; SQLite stores members, books, copies and one bookings table whose status carries the whole lifecycle. Key decisions: availability is computed from active bookings rather than stored, so rejecting, cancelling or returning frees a copy automatically, which fixes the "copies stuck unavailable" problem; the free-copy check and the insert run in one locked transaction, so two people can never get the last copy; one table lists the allowed status changes and anything else is refused with a sentence the user understands; an overdue loan keeps blocking its copy because the book is not on the shelf. Trade-offs: holding the copy at submission is fair but a pending request holds it until review; priority closes lower-priority pending requests automatically, which is fast but takes the decision away from the librarian; no login keeps the demo quick. Testing: 67 pytest tests named after the business rules; each checks the error and the database state afterwards; we deliberately broke rules in the code and the tests caught every change. AI usage: Claude Code drafted code and tests; we reviewed each rule, ran every check, and it surfaced gaps we then fixed, such as overdue loans and a missed date-boundary test. Next: waitlist and renewals, which the customer asked for, university login, reminders, and an insights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72120"/>
            <a:ext cx="10972800" cy="363141"/>
          </a:xfrm>
          <a:prstGeom prst="rect">
            <a:avLst/>
          </a:prstGeom>
          <a:noFill/>
          <a:ln/>
        </p:spPr>
        <p:txBody>
          <a:bodyPr wrap="square" lIns="0" tIns="0" rIns="0" bIns="0" rtlCol="0" anchor="t"/>
          <a:lstStyle>
            <a:lvl1pPr algn="l" indent="0" marL="0">
              <a:lnSpc>
                <a:spcPct val="110000"/>
              </a:lnSpc>
              <a:buNone/>
              <a:defRPr lang="en-US" sz="2600" dirty="0">
                <a:solidFill>
                  <a:srgbClr val="1D3557"/>
                </a:solidFill>
                <a:latin typeface="Source Serif 4" pitchFamily="34" charset="0"/>
                <a:ea typeface="Source Serif 4" pitchFamily="34" charset="-122"/>
                <a:cs typeface="Source Serif 4" pitchFamily="34" charset="-120"/>
              </a:defRPr>
            </a:lvl1pPr>
          </a:lstStyle>
          <a:p>
            <a:pPr algn="l" indent="0" marL="0">
              <a:lnSpc>
                <a:spcPct val="110000"/>
              </a:lnSpc>
              <a:buNone/>
            </a:pPr>
            <a:endParaRPr lang="en-US" sz="2600" dirty="0"/>
          </a:p>
        </p:txBody>
      </p:sp>
      <p:sp>
        <p:nvSpPr>
          <p:cNvPr id="3" name="Text Placeholder 2"/>
          <p:cNvSpPr/>
          <p:nvPr>
            <p:ph idx="101" type="body"/>
          </p:nvPr>
        </p:nvSpPr>
        <p:spPr>
          <a:xfrm>
            <a:off x="609600" y="1440061"/>
            <a:ext cx="10769600" cy="4605139"/>
          </a:xfrm>
          <a:prstGeom prst="rect">
            <a:avLst/>
          </a:prstGeom>
          <a:noFill/>
          <a:ln/>
        </p:spPr>
        <p:txBody>
          <a:bodyPr wrap="square" lIns="0" tIns="0" rIns="0" bIns="0" rtlCol="0" anchor="t"/>
          <a:lstStyle>
            <a:lvl1pPr algn="l" indent="0" marL="0">
              <a:lnSpc>
                <a:spcPct val="140000"/>
              </a:lnSpc>
              <a:buNone/>
              <a:defRPr lang="en-US" sz="1600" dirty="0">
                <a:solidFill>
                  <a:srgbClr val="1D355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72120"/>
            <a:ext cx="10972800" cy="363141"/>
          </a:xfrm>
          <a:prstGeom prst="rect">
            <a:avLst/>
          </a:prstGeom>
          <a:noFill/>
          <a:ln/>
        </p:spPr>
        <p:txBody>
          <a:bodyPr wrap="square" lIns="0" tIns="0" rIns="0" bIns="0" rtlCol="0" anchor="t"/>
          <a:lstStyle>
            <a:lvl1pPr algn="l" indent="0" marL="0">
              <a:lnSpc>
                <a:spcPct val="110000"/>
              </a:lnSpc>
              <a:buNone/>
              <a:defRPr lang="en-US" sz="2600" dirty="0">
                <a:solidFill>
                  <a:srgbClr val="1D3557"/>
                </a:solidFill>
                <a:latin typeface="Source Serif 4" pitchFamily="34" charset="0"/>
                <a:ea typeface="Source Serif 4" pitchFamily="34" charset="-122"/>
                <a:cs typeface="Source Serif 4" pitchFamily="34" charset="-120"/>
              </a:defRPr>
            </a:lvl1pPr>
          </a:lstStyle>
          <a:p>
            <a:pPr algn="l" indent="0" marL="0">
              <a:lnSpc>
                <a:spcPct val="110000"/>
              </a:lnSpc>
              <a:buNone/>
            </a:pPr>
            <a:endParaRPr lang="en-US" sz="2600" dirty="0"/>
          </a:p>
        </p:txBody>
      </p:sp>
      <p:sp>
        <p:nvSpPr>
          <p:cNvPr id="3" name="Text Placeholder 2"/>
          <p:cNvSpPr/>
          <p:nvPr>
            <p:ph idx="101" type="body"/>
          </p:nvPr>
        </p:nvSpPr>
        <p:spPr>
          <a:xfrm>
            <a:off x="609600" y="1440061"/>
            <a:ext cx="10769600" cy="4605139"/>
          </a:xfrm>
          <a:prstGeom prst="rect">
            <a:avLst/>
          </a:prstGeom>
          <a:noFill/>
          <a:ln/>
        </p:spPr>
        <p:txBody>
          <a:bodyPr wrap="square" lIns="0" tIns="0" rIns="0" bIns="0" rtlCol="0" anchor="t"/>
          <a:lstStyle>
            <a:lvl1pPr algn="l" indent="0" marL="0">
              <a:lnSpc>
                <a:spcPct val="140000"/>
              </a:lnSpc>
              <a:buNone/>
              <a:defRPr lang="en-US" sz="1600" dirty="0">
                <a:solidFill>
                  <a:srgbClr val="1D355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4"/>
        </a:solidFill>
      </p:bgPr>
    </p:bg>
    <p:spTree>
      <p:nvGrpSpPr>
        <p:cNvPr id="1" name=""/>
        <p:cNvGrpSpPr/>
        <p:nvPr/>
      </p:nvGrpSpPr>
      <p:grpSpPr>
        <a:xfrm>
          <a:off x="0" y="0"/>
          <a:ext cx="0" cy="0"/>
          <a:chOff x="0" y="0"/>
          <a:chExt cx="0" cy="0"/>
        </a:xfrm>
      </p:grpSpPr>
      <p:sp>
        <p:nvSpPr>
          <p:cNvPr id="2" name="Text 0"/>
          <p:cNvSpPr/>
          <p:nvPr/>
        </p:nvSpPr>
        <p:spPr>
          <a:xfrm>
            <a:off x="609600" y="5080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0"/>
                </a:solidFill>
                <a:latin typeface="IBM Plex Sans" pitchFamily="34" charset="0"/>
                <a:ea typeface="IBM Plex Sans" pitchFamily="34" charset="-122"/>
                <a:cs typeface="IBM Plex Sans" pitchFamily="34" charset="-120"/>
              </a:rPr>
              <a:t>GROUP 3 · LIBRARY MANAGEMENT SYSTEM · 1 / 2 PROBLEM UNDERSTANDING</a:t>
            </a:r>
            <a:endParaRPr lang="en-US" sz="1200" dirty="0"/>
          </a:p>
        </p:txBody>
      </p:sp>
      <p:sp>
        <p:nvSpPr>
          <p:cNvPr id="3" name="Text 1"/>
          <p:cNvSpPr/>
          <p:nvPr>
            <p:ph type="title"/>
          </p:nvPr>
        </p:nvSpPr>
        <p:spPr>
          <a:xfrm>
            <a:off x="609600" y="772120"/>
            <a:ext cx="11301984" cy="38854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D3557"/>
                </a:solidFill>
                <a:latin typeface="Source Serif 4" pitchFamily="18" charset="0"/>
                <a:ea typeface="Source Serif 4" pitchFamily="18" charset="-122"/>
                <a:cs typeface="Source Serif 4" pitchFamily="18" charset="-120"/>
              </a:rPr>
              <a:t>Every copy, every date range, one source of truth</a:t>
            </a:r>
            <a:endParaRPr lang="en-US" sz="2600" dirty="0"/>
          </a:p>
        </p:txBody>
      </p:sp>
      <p:sp>
        <p:nvSpPr>
          <p:cNvPr id="4" name="Text 2"/>
          <p:cNvSpPr/>
          <p:nvPr/>
        </p:nvSpPr>
        <p:spPr>
          <a:xfrm>
            <a:off x="609600" y="1186061"/>
            <a:ext cx="113019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B5B"/>
                </a:solidFill>
                <a:latin typeface="IBM Plex Sans" pitchFamily="34" charset="0"/>
                <a:ea typeface="IBM Plex Sans" pitchFamily="34" charset="-122"/>
                <a:cs typeface="IBM Plex Sans" pitchFamily="34" charset="-120"/>
              </a:rPr>
              <a:t>Registers and spreadsheets cause clashes over scarce copies; we track each physical copy per date range.</a:t>
            </a:r>
            <a:endParaRPr lang="en-US" sz="1300" dirty="0"/>
          </a:p>
        </p:txBody>
      </p:sp>
      <p:sp>
        <p:nvSpPr>
          <p:cNvPr id="5" name="Shape 3"/>
          <p:cNvSpPr/>
          <p:nvPr/>
        </p:nvSpPr>
        <p:spPr>
          <a:xfrm>
            <a:off x="612775" y="1572716"/>
            <a:ext cx="3549650" cy="2307630"/>
          </a:xfrm>
          <a:prstGeom prst="roundRect">
            <a:avLst>
              <a:gd name="adj" fmla="val 4265"/>
            </a:avLst>
          </a:prstGeom>
          <a:solidFill>
            <a:srgbClr val="FFFEFB"/>
          </a:solidFill>
          <a:ln w="6350">
            <a:solidFill>
              <a:srgbClr val="E2DED4"/>
            </a:solidFill>
            <a:prstDash val="solid"/>
          </a:ln>
        </p:spPr>
      </p:sp>
      <p:sp>
        <p:nvSpPr>
          <p:cNvPr id="6" name="Shape 4"/>
          <p:cNvSpPr/>
          <p:nvPr/>
        </p:nvSpPr>
        <p:spPr>
          <a:xfrm>
            <a:off x="768350" y="1728291"/>
            <a:ext cx="355600" cy="38100"/>
          </a:xfrm>
          <a:prstGeom prst="roundRect">
            <a:avLst>
              <a:gd name="adj" fmla="val 50000"/>
            </a:avLst>
          </a:prstGeom>
          <a:solidFill>
            <a:srgbClr val="E76F51"/>
          </a:solidFill>
          <a:ln/>
        </p:spPr>
      </p:sp>
      <p:sp>
        <p:nvSpPr>
          <p:cNvPr id="7" name="Text 5"/>
          <p:cNvSpPr/>
          <p:nvPr/>
        </p:nvSpPr>
        <p:spPr>
          <a:xfrm>
            <a:off x="768350" y="1829891"/>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The problem</a:t>
            </a:r>
            <a:endParaRPr lang="en-US" sz="1500" dirty="0"/>
          </a:p>
        </p:txBody>
      </p:sp>
      <p:sp>
        <p:nvSpPr>
          <p:cNvPr id="8" name="Text 6"/>
          <p:cNvSpPr/>
          <p:nvPr/>
        </p:nvSpPr>
        <p:spPr>
          <a:xfrm>
            <a:off x="867156" y="2121991"/>
            <a:ext cx="3229229" cy="817563"/>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Scarce copies double-booked in registers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Requests ignore availability; slow reviews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Copies stuck "unavailable" after returns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Damage untracked; status invisible</a:t>
            </a:r>
            <a:endParaRPr lang="en-US" sz="1200" dirty="0"/>
          </a:p>
        </p:txBody>
      </p:sp>
      <p:sp>
        <p:nvSpPr>
          <p:cNvPr id="9" name="Shape 7"/>
          <p:cNvSpPr/>
          <p:nvPr/>
        </p:nvSpPr>
        <p:spPr>
          <a:xfrm>
            <a:off x="4321175" y="1572716"/>
            <a:ext cx="3549650" cy="2307630"/>
          </a:xfrm>
          <a:prstGeom prst="roundRect">
            <a:avLst>
              <a:gd name="adj" fmla="val 4265"/>
            </a:avLst>
          </a:prstGeom>
          <a:solidFill>
            <a:srgbClr val="FFFEFB"/>
          </a:solidFill>
          <a:ln w="6350">
            <a:solidFill>
              <a:srgbClr val="E2DED4"/>
            </a:solidFill>
            <a:prstDash val="solid"/>
          </a:ln>
        </p:spPr>
      </p:sp>
      <p:sp>
        <p:nvSpPr>
          <p:cNvPr id="10" name="Shape 8"/>
          <p:cNvSpPr/>
          <p:nvPr/>
        </p:nvSpPr>
        <p:spPr>
          <a:xfrm>
            <a:off x="4476750" y="1728291"/>
            <a:ext cx="355600" cy="38100"/>
          </a:xfrm>
          <a:prstGeom prst="roundRect">
            <a:avLst>
              <a:gd name="adj" fmla="val 50000"/>
            </a:avLst>
          </a:prstGeom>
          <a:solidFill>
            <a:srgbClr val="1D3557"/>
          </a:solidFill>
          <a:ln/>
        </p:spPr>
      </p:sp>
      <p:sp>
        <p:nvSpPr>
          <p:cNvPr id="11" name="Text 9"/>
          <p:cNvSpPr/>
          <p:nvPr/>
        </p:nvSpPr>
        <p:spPr>
          <a:xfrm>
            <a:off x="4476750" y="1829891"/>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Stakeholders</a:t>
            </a:r>
            <a:endParaRPr lang="en-US" sz="1500" dirty="0"/>
          </a:p>
        </p:txBody>
      </p:sp>
      <p:sp>
        <p:nvSpPr>
          <p:cNvPr id="12" name="Text 10"/>
          <p:cNvSpPr/>
          <p:nvPr/>
        </p:nvSpPr>
        <p:spPr>
          <a:xfrm>
            <a:off x="4575556" y="2121991"/>
            <a:ext cx="3229229" cy="1015603"/>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b="1" dirty="0">
                <a:solidFill>
                  <a:srgbClr val="3F4B5B"/>
                </a:solidFill>
                <a:latin typeface="IBM Plex Sans" pitchFamily="34" charset="0"/>
                <a:ea typeface="IBM Plex Sans" pitchFamily="34" charset="-122"/>
                <a:cs typeface="IBM Plex Sans" pitchFamily="34" charset="-120"/>
              </a:rPr>
              <a:t>Students, researchers, professors:</a:t>
            </a:r>
            <a:r>
              <a:rPr lang="en-US" sz="1200" dirty="0">
                <a:solidFill>
                  <a:srgbClr val="3F4B5B"/>
                </a:solidFill>
                <a:latin typeface="IBM Plex Sans" pitchFamily="34" charset="0"/>
                <a:ea typeface="IBM Plex Sans" pitchFamily="34" charset="-122"/>
                <a:cs typeface="IBM Plex Sans" pitchFamily="34" charset="-120"/>
              </a:rPr>
              <a:t> find, request, track, cancel</a:t>
            </a:r>
            <a:endParaRPr lang="en-US" sz="1200" dirty="0"/>
          </a:p>
          <a:p>
            <a:pPr algn="l" marL="155194" indent="-155194">
              <a:lnSpc>
                <a:spcPts val="1560"/>
              </a:lnSpc>
              <a:buSzPct val="100000"/>
              <a:buChar char="•"/>
            </a:pPr>
            <a:r>
              <a:rPr lang="en-US" sz="1200" b="1" dirty="0">
                <a:solidFill>
                  <a:srgbClr val="3F4B5B"/>
                </a:solidFill>
                <a:latin typeface="IBM Plex Sans" pitchFamily="34" charset="0"/>
                <a:ea typeface="IBM Plex Sans" pitchFamily="34" charset="-122"/>
                <a:cs typeface="IBM Plex Sans" pitchFamily="34" charset="-120"/>
              </a:rPr>
              <a:t>Librarian:</a:t>
            </a:r>
            <a:r>
              <a:rPr lang="en-US" sz="1200" dirty="0">
                <a:solidFill>
                  <a:srgbClr val="3F4B5B"/>
                </a:solidFill>
                <a:latin typeface="IBM Plex Sans" pitchFamily="34" charset="0"/>
                <a:ea typeface="IBM Plex Sans" pitchFamily="34" charset="-122"/>
                <a:cs typeface="IBM Plex Sans" pitchFamily="34" charset="-120"/>
              </a:rPr>
              <a:t> review, issue, return, manage copy condition</a:t>
            </a:r>
            <a:endParaRPr lang="en-US" sz="1200" dirty="0"/>
          </a:p>
          <a:p>
            <a:pPr algn="l" marL="155194" indent="-155194">
              <a:lnSpc>
                <a:spcPts val="1560"/>
              </a:lnSpc>
              <a:buSzPct val="100000"/>
              <a:buChar char="•"/>
            </a:pPr>
            <a:r>
              <a:rPr lang="en-US" sz="1200" b="1" dirty="0">
                <a:solidFill>
                  <a:srgbClr val="3F4B5B"/>
                </a:solidFill>
                <a:latin typeface="IBM Plex Sans" pitchFamily="34" charset="0"/>
                <a:ea typeface="IBM Plex Sans" pitchFamily="34" charset="-122"/>
                <a:cs typeface="IBM Plex Sans" pitchFamily="34" charset="-120"/>
              </a:rPr>
              <a:t>Library head:</a:t>
            </a:r>
            <a:r>
              <a:rPr lang="en-US" sz="1200" dirty="0">
                <a:solidFill>
                  <a:srgbClr val="3F4B5B"/>
                </a:solidFill>
                <a:latin typeface="IBM Plex Sans" pitchFamily="34" charset="0"/>
                <a:ea typeface="IBM Plex Sans" pitchFamily="34" charset="-122"/>
                <a:cs typeface="IBM Plex Sans" pitchFamily="34" charset="-120"/>
              </a:rPr>
              <a:t> demand and overdue insight</a:t>
            </a:r>
            <a:endParaRPr lang="en-US" sz="1200" dirty="0"/>
          </a:p>
        </p:txBody>
      </p:sp>
      <p:sp>
        <p:nvSpPr>
          <p:cNvPr id="13" name="Shape 11"/>
          <p:cNvSpPr/>
          <p:nvPr/>
        </p:nvSpPr>
        <p:spPr>
          <a:xfrm>
            <a:off x="8029575" y="1572716"/>
            <a:ext cx="3549650" cy="2307630"/>
          </a:xfrm>
          <a:prstGeom prst="roundRect">
            <a:avLst>
              <a:gd name="adj" fmla="val 4265"/>
            </a:avLst>
          </a:prstGeom>
          <a:solidFill>
            <a:srgbClr val="FFFEFB"/>
          </a:solidFill>
          <a:ln w="6350">
            <a:solidFill>
              <a:srgbClr val="E2DED4"/>
            </a:solidFill>
            <a:prstDash val="solid"/>
          </a:ln>
        </p:spPr>
      </p:sp>
      <p:sp>
        <p:nvSpPr>
          <p:cNvPr id="14" name="Shape 12"/>
          <p:cNvSpPr/>
          <p:nvPr/>
        </p:nvSpPr>
        <p:spPr>
          <a:xfrm>
            <a:off x="8185150" y="1728291"/>
            <a:ext cx="355600" cy="38100"/>
          </a:xfrm>
          <a:prstGeom prst="roundRect">
            <a:avLst>
              <a:gd name="adj" fmla="val 50000"/>
            </a:avLst>
          </a:prstGeom>
          <a:solidFill>
            <a:srgbClr val="2A9D8F"/>
          </a:solidFill>
          <a:ln/>
        </p:spPr>
      </p:sp>
      <p:sp>
        <p:nvSpPr>
          <p:cNvPr id="15" name="Text 13"/>
          <p:cNvSpPr/>
          <p:nvPr/>
        </p:nvSpPr>
        <p:spPr>
          <a:xfrm>
            <a:off x="8185150" y="1829891"/>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Workflows we prioritised</a:t>
            </a:r>
            <a:endParaRPr lang="en-US" sz="1500" dirty="0"/>
          </a:p>
        </p:txBody>
      </p:sp>
      <p:sp>
        <p:nvSpPr>
          <p:cNvPr id="16" name="Text 14"/>
          <p:cNvSpPr/>
          <p:nvPr/>
        </p:nvSpPr>
        <p:spPr>
          <a:xfrm>
            <a:off x="8270180" y="2121991"/>
            <a:ext cx="3243005" cy="1015603"/>
          </a:xfrm>
          <a:prstGeom prst="rect">
            <a:avLst/>
          </a:prstGeom>
          <a:noFill/>
          <a:ln/>
        </p:spPr>
        <p:txBody>
          <a:bodyPr wrap="square" lIns="0" tIns="0" rIns="0" bIns="0" rtlCol="0" anchor="t">
            <a:normAutofit/>
          </a:bodyPr>
          <a:lstStyle/>
          <a:p>
            <a:pPr algn="l" marL="168970" indent="-168970">
              <a:lnSpc>
                <a:spcPts val="1560"/>
              </a:lnSpc>
              <a:buSzPct val="100000"/>
              <a:buFontTx/>
              <a:buAutoNum type="arabicPeriod" startAt="1"/>
            </a:pPr>
            <a:r>
              <a:rPr lang="en-US" sz="1200" dirty="0">
                <a:solidFill>
                  <a:srgbClr val="3F4B5B"/>
                </a:solidFill>
                <a:latin typeface="IBM Plex Sans" pitchFamily="34" charset="0"/>
                <a:ea typeface="IBM Plex Sans" pitchFamily="34" charset="-122"/>
                <a:cs typeface="IBM Plex Sans" pitchFamily="34" charset="-120"/>
              </a:rPr>
              <a:t>Request: title + dates; copy held</a:t>
            </a:r>
            <a:endParaRPr lang="en-US" sz="1200" dirty="0"/>
          </a:p>
          <a:p>
            <a:pPr algn="l" marL="168970" indent="-168970">
              <a:lnSpc>
                <a:spcPts val="1560"/>
              </a:lnSpc>
              <a:buSzPct val="100000"/>
              <a:buFontTx/>
              <a:buAutoNum type="arabicPeriod" startAt="1"/>
            </a:pPr>
            <a:r>
              <a:rPr lang="en-US" sz="1200" dirty="0">
                <a:solidFill>
                  <a:srgbClr val="3F4B5B"/>
                </a:solidFill>
                <a:latin typeface="IBM Plex Sans" pitchFamily="34" charset="0"/>
                <a:ea typeface="IBM Plex Sans" pitchFamily="34" charset="-122"/>
                <a:cs typeface="IBM Plex Sans" pitchFamily="34" charset="-120"/>
              </a:rPr>
              <a:t>Review: approve or reject with reason</a:t>
            </a:r>
            <a:endParaRPr lang="en-US" sz="1200" dirty="0"/>
          </a:p>
          <a:p>
            <a:pPr algn="l" marL="168970" indent="-168970">
              <a:lnSpc>
                <a:spcPts val="1560"/>
              </a:lnSpc>
              <a:buSzPct val="100000"/>
              <a:buFontTx/>
              <a:buAutoNum type="arabicPeriod" startAt="1"/>
            </a:pPr>
            <a:r>
              <a:rPr lang="en-US" sz="1200" dirty="0">
                <a:solidFill>
                  <a:srgbClr val="3F4B5B"/>
                </a:solidFill>
                <a:latin typeface="IBM Plex Sans" pitchFamily="34" charset="0"/>
                <a:ea typeface="IBM Plex Sans" pitchFamily="34" charset="-122"/>
                <a:cs typeface="IBM Plex Sans" pitchFamily="34" charset="-120"/>
              </a:rPr>
              <a:t>Reserve, then issue at pickup</a:t>
            </a:r>
            <a:endParaRPr lang="en-US" sz="1200" dirty="0"/>
          </a:p>
          <a:p>
            <a:pPr algn="l" marL="168970" indent="-168970">
              <a:lnSpc>
                <a:spcPts val="1560"/>
              </a:lnSpc>
              <a:buSzPct val="100000"/>
              <a:buFontTx/>
              <a:buAutoNum type="arabicPeriod" startAt="1"/>
            </a:pPr>
            <a:r>
              <a:rPr lang="en-US" sz="1200" dirty="0">
                <a:solidFill>
                  <a:srgbClr val="3F4B5B"/>
                </a:solidFill>
                <a:latin typeface="IBM Plex Sans" pitchFamily="34" charset="0"/>
                <a:ea typeface="IBM Plex Sans" pitchFamily="34" charset="-122"/>
                <a:cs typeface="IBM Plex Sans" pitchFamily="34" charset="-120"/>
              </a:rPr>
              <a:t>Return: record the copy's condition</a:t>
            </a:r>
            <a:endParaRPr lang="en-US" sz="1200" dirty="0"/>
          </a:p>
          <a:p>
            <a:pPr algn="l" marL="168970" indent="-168970">
              <a:lnSpc>
                <a:spcPts val="1560"/>
              </a:lnSpc>
              <a:buSzPct val="100000"/>
              <a:buFontTx/>
              <a:buAutoNum type="arabicPeriod" startAt="1"/>
            </a:pPr>
            <a:r>
              <a:rPr lang="en-US" sz="1200" dirty="0">
                <a:solidFill>
                  <a:srgbClr val="3F4B5B"/>
                </a:solidFill>
                <a:latin typeface="IBM Plex Sans" pitchFamily="34" charset="0"/>
                <a:ea typeface="IBM Plex Sans" pitchFamily="34" charset="-122"/>
                <a:cs typeface="IBM Plex Sans" pitchFamily="34" charset="-120"/>
              </a:rPr>
              <a:t>Cancel or reject frees the copy</a:t>
            </a:r>
            <a:endParaRPr lang="en-US" sz="1200" dirty="0"/>
          </a:p>
        </p:txBody>
      </p:sp>
      <p:sp>
        <p:nvSpPr>
          <p:cNvPr id="17" name="Shape 15"/>
          <p:cNvSpPr/>
          <p:nvPr/>
        </p:nvSpPr>
        <p:spPr>
          <a:xfrm>
            <a:off x="612775" y="4039096"/>
            <a:ext cx="3549650" cy="2307729"/>
          </a:xfrm>
          <a:prstGeom prst="roundRect">
            <a:avLst>
              <a:gd name="adj" fmla="val 4265"/>
            </a:avLst>
          </a:prstGeom>
          <a:solidFill>
            <a:srgbClr val="FFFEFB"/>
          </a:solidFill>
          <a:ln w="6350">
            <a:solidFill>
              <a:srgbClr val="E2DED4"/>
            </a:solidFill>
            <a:prstDash val="solid"/>
          </a:ln>
        </p:spPr>
      </p:sp>
      <p:sp>
        <p:nvSpPr>
          <p:cNvPr id="18" name="Shape 16"/>
          <p:cNvSpPr/>
          <p:nvPr/>
        </p:nvSpPr>
        <p:spPr>
          <a:xfrm>
            <a:off x="768350" y="4194671"/>
            <a:ext cx="355600" cy="38100"/>
          </a:xfrm>
          <a:prstGeom prst="roundRect">
            <a:avLst>
              <a:gd name="adj" fmla="val 50000"/>
            </a:avLst>
          </a:prstGeom>
          <a:solidFill>
            <a:srgbClr val="2A9D8F"/>
          </a:solidFill>
          <a:ln/>
        </p:spPr>
      </p:sp>
      <p:sp>
        <p:nvSpPr>
          <p:cNvPr id="19" name="Text 17"/>
          <p:cNvSpPr/>
          <p:nvPr/>
        </p:nvSpPr>
        <p:spPr>
          <a:xfrm>
            <a:off x="768350" y="4296271"/>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Business rules we enforce</a:t>
            </a:r>
            <a:endParaRPr lang="en-US" sz="1500" dirty="0"/>
          </a:p>
        </p:txBody>
      </p:sp>
      <p:sp>
        <p:nvSpPr>
          <p:cNvPr id="20" name="Text 18"/>
          <p:cNvSpPr/>
          <p:nvPr/>
        </p:nvSpPr>
        <p:spPr>
          <a:xfrm>
            <a:off x="867156" y="4588371"/>
            <a:ext cx="3229229" cy="1015603"/>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No copy in two overlapping bookings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No free copy: request blocked, with reason</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Reject, cancel or return frees the copy</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Damaged, lost, reference copies never lent</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Priority: Professor &gt; Researcher &gt; Student</a:t>
            </a:r>
            <a:endParaRPr lang="en-US" sz="1200" dirty="0"/>
          </a:p>
        </p:txBody>
      </p:sp>
      <p:sp>
        <p:nvSpPr>
          <p:cNvPr id="21" name="Shape 19"/>
          <p:cNvSpPr/>
          <p:nvPr/>
        </p:nvSpPr>
        <p:spPr>
          <a:xfrm>
            <a:off x="4321175" y="4039096"/>
            <a:ext cx="3549650" cy="2307729"/>
          </a:xfrm>
          <a:prstGeom prst="roundRect">
            <a:avLst>
              <a:gd name="adj" fmla="val 4265"/>
            </a:avLst>
          </a:prstGeom>
          <a:solidFill>
            <a:srgbClr val="FFFEFB"/>
          </a:solidFill>
          <a:ln w="6350">
            <a:solidFill>
              <a:srgbClr val="E2DED4"/>
            </a:solidFill>
            <a:prstDash val="solid"/>
          </a:ln>
        </p:spPr>
      </p:sp>
      <p:sp>
        <p:nvSpPr>
          <p:cNvPr id="22" name="Shape 20"/>
          <p:cNvSpPr/>
          <p:nvPr/>
        </p:nvSpPr>
        <p:spPr>
          <a:xfrm>
            <a:off x="4476750" y="4194671"/>
            <a:ext cx="355600" cy="38100"/>
          </a:xfrm>
          <a:prstGeom prst="roundRect">
            <a:avLst>
              <a:gd name="adj" fmla="val 50000"/>
            </a:avLst>
          </a:prstGeom>
          <a:solidFill>
            <a:srgbClr val="1D3557"/>
          </a:solidFill>
          <a:ln/>
        </p:spPr>
      </p:sp>
      <p:sp>
        <p:nvSpPr>
          <p:cNvPr id="23" name="Text 21"/>
          <p:cNvSpPr/>
          <p:nvPr/>
        </p:nvSpPr>
        <p:spPr>
          <a:xfrm>
            <a:off x="4476750" y="4296271"/>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Key assumptions</a:t>
            </a:r>
            <a:endParaRPr lang="en-US" sz="1500" dirty="0"/>
          </a:p>
        </p:txBody>
      </p:sp>
      <p:sp>
        <p:nvSpPr>
          <p:cNvPr id="24" name="Text 22"/>
          <p:cNvSpPr/>
          <p:nvPr/>
        </p:nvSpPr>
        <p:spPr>
          <a:xfrm>
            <a:off x="4575556" y="4588371"/>
            <a:ext cx="3229229" cy="1015603"/>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Clean Code = 4, AI = 3 copies (table typo)</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Demo clock: 1 Aug 2026 (seed dates)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Loans 14 / 21 / 30 days; 3 active max</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Copy held from submission (fair queue)</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No login: role switcher instead</a:t>
            </a:r>
            <a:endParaRPr lang="en-US" sz="1200" dirty="0"/>
          </a:p>
        </p:txBody>
      </p:sp>
      <p:sp>
        <p:nvSpPr>
          <p:cNvPr id="25" name="Shape 23"/>
          <p:cNvSpPr/>
          <p:nvPr/>
        </p:nvSpPr>
        <p:spPr>
          <a:xfrm>
            <a:off x="8029575" y="4039096"/>
            <a:ext cx="3549650" cy="2307729"/>
          </a:xfrm>
          <a:prstGeom prst="roundRect">
            <a:avLst>
              <a:gd name="adj" fmla="val 4265"/>
            </a:avLst>
          </a:prstGeom>
          <a:solidFill>
            <a:srgbClr val="FFFEFB"/>
          </a:solidFill>
          <a:ln w="6350">
            <a:solidFill>
              <a:srgbClr val="E2DED4"/>
            </a:solidFill>
            <a:prstDash val="solid"/>
          </a:ln>
        </p:spPr>
      </p:sp>
      <p:sp>
        <p:nvSpPr>
          <p:cNvPr id="26" name="Shape 24"/>
          <p:cNvSpPr/>
          <p:nvPr/>
        </p:nvSpPr>
        <p:spPr>
          <a:xfrm>
            <a:off x="8185150" y="4194671"/>
            <a:ext cx="355600" cy="38100"/>
          </a:xfrm>
          <a:prstGeom prst="roundRect">
            <a:avLst>
              <a:gd name="adj" fmla="val 50000"/>
            </a:avLst>
          </a:prstGeom>
          <a:solidFill>
            <a:srgbClr val="E76F51"/>
          </a:solidFill>
          <a:ln/>
        </p:spPr>
      </p:sp>
      <p:sp>
        <p:nvSpPr>
          <p:cNvPr id="27" name="Text 25"/>
          <p:cNvSpPr/>
          <p:nvPr/>
        </p:nvSpPr>
        <p:spPr>
          <a:xfrm>
            <a:off x="8185150" y="4296271"/>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Scope for 90 minutes</a:t>
            </a:r>
            <a:endParaRPr lang="en-US" sz="1500" dirty="0"/>
          </a:p>
        </p:txBody>
      </p:sp>
      <p:sp>
        <p:nvSpPr>
          <p:cNvPr id="28" name="Text 26"/>
          <p:cNvSpPr/>
          <p:nvPr/>
        </p:nvSpPr>
        <p:spPr>
          <a:xfrm>
            <a:off x="8185150" y="4588371"/>
            <a:ext cx="333565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3F4B5B"/>
                </a:solidFill>
                <a:latin typeface="IBM Plex Sans" pitchFamily="34" charset="0"/>
                <a:ea typeface="IBM Plex Sans" pitchFamily="34" charset="-122"/>
                <a:cs typeface="IBM Plex Sans" pitchFamily="34" charset="-120"/>
              </a:rPr>
              <a:t>In:</a:t>
            </a:r>
            <a:r>
              <a:rPr lang="en-US" sz="1200" dirty="0">
                <a:solidFill>
                  <a:srgbClr val="3F4B5B"/>
                </a:solidFill>
                <a:latin typeface="IBM Plex Sans" pitchFamily="34" charset="0"/>
                <a:ea typeface="IBM Plex Sans" pitchFamily="34" charset="-122"/>
                <a:cs typeface="IBM Plex Sans" pitchFamily="34" charset="-120"/>
              </a:rPr>
              <a:t> the full lending lifecycle, copy conditions, validations, member priority</a:t>
            </a:r>
            <a:endParaRPr lang="en-US" sz="1200" dirty="0"/>
          </a:p>
        </p:txBody>
      </p:sp>
      <p:sp>
        <p:nvSpPr>
          <p:cNvPr id="29" name="Text 27"/>
          <p:cNvSpPr/>
          <p:nvPr/>
        </p:nvSpPr>
        <p:spPr>
          <a:xfrm>
            <a:off x="8185150" y="5047952"/>
            <a:ext cx="333565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3F4B5B"/>
                </a:solidFill>
                <a:latin typeface="IBM Plex Sans" pitchFamily="34" charset="0"/>
                <a:ea typeface="IBM Plex Sans" pitchFamily="34" charset="-122"/>
                <a:cs typeface="IBM Plex Sans" pitchFamily="34" charset="-120"/>
              </a:rPr>
              <a:t>Out:</a:t>
            </a:r>
            <a:r>
              <a:rPr lang="en-US" sz="1200" dirty="0">
                <a:solidFill>
                  <a:srgbClr val="3F4B5B"/>
                </a:solidFill>
                <a:latin typeface="IBM Plex Sans" pitchFamily="34" charset="0"/>
                <a:ea typeface="IBM Plex Sans" pitchFamily="34" charset="-122"/>
                <a:cs typeface="IBM Plex Sans" pitchFamily="34" charset="-120"/>
              </a:rPr>
              <a:t> login, fines, renewals, waitlists, email/SMS, book suggestions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C"/>
        </a:solidFill>
      </p:bgPr>
    </p:bg>
    <p:spTree>
      <p:nvGrpSpPr>
        <p:cNvPr id="1" name=""/>
        <p:cNvGrpSpPr/>
        <p:nvPr/>
      </p:nvGrpSpPr>
      <p:grpSpPr>
        <a:xfrm>
          <a:off x="0" y="0"/>
          <a:ext cx="0" cy="0"/>
          <a:chOff x="0" y="0"/>
          <a:chExt cx="0" cy="0"/>
        </a:xfrm>
      </p:grpSpPr>
      <p:sp>
        <p:nvSpPr>
          <p:cNvPr id="2" name="Text 0"/>
          <p:cNvSpPr/>
          <p:nvPr/>
        </p:nvSpPr>
        <p:spPr>
          <a:xfrm>
            <a:off x="609600" y="5080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0"/>
                </a:solidFill>
                <a:latin typeface="IBM Plex Sans" pitchFamily="34" charset="0"/>
                <a:ea typeface="IBM Plex Sans" pitchFamily="34" charset="-122"/>
                <a:cs typeface="IBM Plex Sans" pitchFamily="34" charset="-120"/>
              </a:rPr>
              <a:t>GROUP 3 · LIBRARY MANAGEMENT SYSTEM · 2 / 2 SOLUTION AND ENGINEERING DECISIONS</a:t>
            </a:r>
            <a:endParaRPr lang="en-US" sz="1200" dirty="0"/>
          </a:p>
        </p:txBody>
      </p:sp>
      <p:sp>
        <p:nvSpPr>
          <p:cNvPr id="3" name="Text 1"/>
          <p:cNvSpPr/>
          <p:nvPr>
            <p:ph type="title"/>
          </p:nvPr>
        </p:nvSpPr>
        <p:spPr>
          <a:xfrm>
            <a:off x="609600" y="772120"/>
            <a:ext cx="11301984" cy="38854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D3557"/>
                </a:solidFill>
                <a:latin typeface="Source Serif 4" pitchFamily="18" charset="0"/>
                <a:ea typeface="Source Serif 4" pitchFamily="18" charset="-122"/>
                <a:cs typeface="Source Serif 4" pitchFamily="18" charset="-120"/>
              </a:rPr>
              <a:t>A rules-first service layer behind a simple web app</a:t>
            </a:r>
            <a:endParaRPr lang="en-US" sz="2600" dirty="0"/>
          </a:p>
        </p:txBody>
      </p:sp>
      <p:sp>
        <p:nvSpPr>
          <p:cNvPr id="4" name="Text 2"/>
          <p:cNvSpPr/>
          <p:nvPr/>
        </p:nvSpPr>
        <p:spPr>
          <a:xfrm>
            <a:off x="609600" y="1186061"/>
            <a:ext cx="113019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B5B"/>
                </a:solidFill>
                <a:latin typeface="IBM Plex Sans" pitchFamily="34" charset="0"/>
                <a:ea typeface="IBM Plex Sans" pitchFamily="34" charset="-122"/>
                <a:cs typeface="IBM Plex Sans" pitchFamily="34" charset="-120"/>
              </a:rPr>
              <a:t>Every rule lives in one tested Python layer. AI drafted code and tests; the team reviewed, ran and verified them.</a:t>
            </a:r>
            <a:endParaRPr lang="en-US" sz="1300" dirty="0"/>
          </a:p>
        </p:txBody>
      </p:sp>
      <p:sp>
        <p:nvSpPr>
          <p:cNvPr id="5" name="Shape 3"/>
          <p:cNvSpPr/>
          <p:nvPr/>
        </p:nvSpPr>
        <p:spPr>
          <a:xfrm>
            <a:off x="612775" y="1571625"/>
            <a:ext cx="3549650" cy="2308225"/>
          </a:xfrm>
          <a:prstGeom prst="roundRect">
            <a:avLst>
              <a:gd name="adj" fmla="val 4264"/>
            </a:avLst>
          </a:prstGeom>
          <a:solidFill>
            <a:srgbClr val="FFFEFB"/>
          </a:solidFill>
          <a:ln w="6350">
            <a:solidFill>
              <a:srgbClr val="E2DED4"/>
            </a:solidFill>
            <a:prstDash val="solid"/>
          </a:ln>
        </p:spPr>
      </p:sp>
      <p:sp>
        <p:nvSpPr>
          <p:cNvPr id="6" name="Shape 4"/>
          <p:cNvSpPr/>
          <p:nvPr/>
        </p:nvSpPr>
        <p:spPr>
          <a:xfrm>
            <a:off x="768350" y="1727200"/>
            <a:ext cx="355600" cy="38100"/>
          </a:xfrm>
          <a:prstGeom prst="roundRect">
            <a:avLst>
              <a:gd name="adj" fmla="val 50000"/>
            </a:avLst>
          </a:prstGeom>
          <a:solidFill>
            <a:srgbClr val="1D3557"/>
          </a:solidFill>
          <a:ln/>
        </p:spPr>
      </p:sp>
      <p:sp>
        <p:nvSpPr>
          <p:cNvPr id="7" name="Text 5"/>
          <p:cNvSpPr/>
          <p:nvPr/>
        </p:nvSpPr>
        <p:spPr>
          <a:xfrm>
            <a:off x="768350" y="1828800"/>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High-level approach</a:t>
            </a:r>
            <a:endParaRPr lang="en-US" sz="1500" dirty="0"/>
          </a:p>
        </p:txBody>
      </p:sp>
      <p:sp>
        <p:nvSpPr>
          <p:cNvPr id="8" name="Text 6"/>
          <p:cNvSpPr/>
          <p:nvPr/>
        </p:nvSpPr>
        <p:spPr>
          <a:xfrm>
            <a:off x="768350" y="2120900"/>
            <a:ext cx="3238500" cy="325041"/>
          </a:xfrm>
          <a:prstGeom prst="roundRect">
            <a:avLst>
              <a:gd name="adj" fmla="val 19536"/>
            </a:avLst>
          </a:prstGeom>
          <a:solidFill>
            <a:srgbClr val="1D3557"/>
          </a:solidFill>
          <a:ln/>
        </p:spPr>
        <p:txBody>
          <a:bodyPr wrap="square" lIns="83001" tIns="44901" rIns="0" bIns="19501" rtlCol="0" anchor="t">
            <a:normAutofit/>
          </a:bodyPr>
          <a:lstStyle/>
          <a:p>
            <a:pPr algn="l" indent="0" marL="0">
              <a:lnSpc>
                <a:spcPts val="1560"/>
              </a:lnSpc>
              <a:buNone/>
            </a:pPr>
            <a:r>
              <a:rPr lang="en-US" sz="1200" b="1" dirty="0">
                <a:solidFill>
                  <a:srgbClr val="F8F7F4"/>
                </a:solidFill>
                <a:latin typeface="IBM Plex Sans" pitchFamily="34" charset="0"/>
                <a:ea typeface="IBM Plex Sans" pitchFamily="34" charset="-122"/>
                <a:cs typeface="IBM Plex Sans" pitchFamily="34" charset="-120"/>
              </a:rPr>
              <a:t>Streamlit pages</a:t>
            </a:r>
            <a:r>
              <a:rPr lang="en-US" sz="1200" dirty="0">
                <a:solidFill>
                  <a:srgbClr val="F8F7F4"/>
                </a:solidFill>
                <a:latin typeface="IBM Plex Sans" pitchFamily="34" charset="0"/>
                <a:ea typeface="IBM Plex Sans" pitchFamily="34" charset="-122"/>
                <a:cs typeface="IBM Plex Sans" pitchFamily="34" charset="-120"/>
              </a:rPr>
              <a:t> · display only</a:t>
            </a:r>
            <a:endParaRPr lang="en-US" sz="1200" dirty="0"/>
          </a:p>
        </p:txBody>
      </p:sp>
      <p:sp>
        <p:nvSpPr>
          <p:cNvPr id="9" name="Text 7"/>
          <p:cNvSpPr/>
          <p:nvPr/>
        </p:nvSpPr>
        <p:spPr>
          <a:xfrm>
            <a:off x="768350" y="2509441"/>
            <a:ext cx="3238500" cy="325041"/>
          </a:xfrm>
          <a:prstGeom prst="roundRect">
            <a:avLst>
              <a:gd name="adj" fmla="val 19536"/>
            </a:avLst>
          </a:prstGeom>
          <a:solidFill>
            <a:srgbClr val="1F7A70"/>
          </a:solidFill>
          <a:ln/>
        </p:spPr>
        <p:txBody>
          <a:bodyPr wrap="square" lIns="83001" tIns="44901" rIns="0" bIns="19501" rtlCol="0" anchor="t">
            <a:normAutofit/>
          </a:bodyPr>
          <a:lstStyle/>
          <a:p>
            <a:pPr algn="l" indent="0" marL="0">
              <a:lnSpc>
                <a:spcPts val="1560"/>
              </a:lnSpc>
              <a:buNone/>
            </a:pPr>
            <a:r>
              <a:rPr lang="en-US" sz="1200" b="1" dirty="0">
                <a:solidFill>
                  <a:srgbClr val="F8F7F4"/>
                </a:solidFill>
                <a:latin typeface="IBM Plex Sans" pitchFamily="34" charset="0"/>
                <a:ea typeface="IBM Plex Sans" pitchFamily="34" charset="-122"/>
                <a:cs typeface="IBM Plex Sans" pitchFamily="34" charset="-120"/>
              </a:rPr>
              <a:t>Services</a:t>
            </a:r>
            <a:r>
              <a:rPr lang="en-US" sz="1200" dirty="0">
                <a:solidFill>
                  <a:srgbClr val="F8F7F4"/>
                </a:solidFill>
                <a:latin typeface="IBM Plex Sans" pitchFamily="34" charset="0"/>
                <a:ea typeface="IBM Plex Sans" pitchFamily="34" charset="-122"/>
                <a:cs typeface="IBM Plex Sans" pitchFamily="34" charset="-120"/>
              </a:rPr>
              <a:t> · every business rule</a:t>
            </a:r>
            <a:endParaRPr lang="en-US" sz="1200" dirty="0"/>
          </a:p>
        </p:txBody>
      </p:sp>
      <p:sp>
        <p:nvSpPr>
          <p:cNvPr id="10" name="Text 8"/>
          <p:cNvSpPr/>
          <p:nvPr/>
        </p:nvSpPr>
        <p:spPr>
          <a:xfrm>
            <a:off x="768350" y="2897981"/>
            <a:ext cx="3238500" cy="325041"/>
          </a:xfrm>
          <a:prstGeom prst="roundRect">
            <a:avLst>
              <a:gd name="adj" fmla="val 19536"/>
            </a:avLst>
          </a:prstGeom>
          <a:solidFill>
            <a:srgbClr val="E9E5DC"/>
          </a:solidFill>
          <a:ln/>
        </p:spPr>
        <p:txBody>
          <a:bodyPr wrap="square" lIns="83001" tIns="44901" rIns="0" bIns="19501" rtlCol="0" anchor="t">
            <a:normAutofit/>
          </a:bodyPr>
          <a:lstStyle/>
          <a:p>
            <a:pPr algn="l" indent="0" marL="0">
              <a:lnSpc>
                <a:spcPts val="1560"/>
              </a:lnSpc>
              <a:buNone/>
            </a:pPr>
            <a:r>
              <a:rPr lang="en-US" sz="1200" b="1" dirty="0">
                <a:solidFill>
                  <a:srgbClr val="1D3557"/>
                </a:solidFill>
                <a:latin typeface="IBM Plex Sans" pitchFamily="34" charset="0"/>
                <a:ea typeface="IBM Plex Sans" pitchFamily="34" charset="-122"/>
                <a:cs typeface="IBM Plex Sans" pitchFamily="34" charset="-120"/>
              </a:rPr>
              <a:t>SQLite</a:t>
            </a:r>
            <a:r>
              <a:rPr lang="en-US" sz="1200" dirty="0">
                <a:solidFill>
                  <a:srgbClr val="1D3557"/>
                </a:solidFill>
                <a:latin typeface="IBM Plex Sans" pitchFamily="34" charset="0"/>
                <a:ea typeface="IBM Plex Sans" pitchFamily="34" charset="-122"/>
                <a:cs typeface="IBM Plex Sans" pitchFamily="34" charset="-120"/>
              </a:rPr>
              <a:t> · one bookings table</a:t>
            </a:r>
            <a:endParaRPr lang="en-US" sz="1200" dirty="0"/>
          </a:p>
        </p:txBody>
      </p:sp>
      <p:sp>
        <p:nvSpPr>
          <p:cNvPr id="11" name="Text 9"/>
          <p:cNvSpPr/>
          <p:nvPr/>
        </p:nvSpPr>
        <p:spPr>
          <a:xfrm>
            <a:off x="768350" y="3286522"/>
            <a:ext cx="3335655"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B5B"/>
                </a:solidFill>
                <a:latin typeface="IBM Plex Sans" pitchFamily="34" charset="0"/>
                <a:ea typeface="IBM Plex Sans" pitchFamily="34" charset="-122"/>
                <a:cs typeface="IBM Plex Sans" pitchFamily="34" charset="-120"/>
              </a:rPr>
              <a:t>Python, runs locally, no cloud</a:t>
            </a:r>
            <a:endParaRPr lang="en-US" sz="1200" dirty="0"/>
          </a:p>
        </p:txBody>
      </p:sp>
      <p:sp>
        <p:nvSpPr>
          <p:cNvPr id="12" name="Shape 10"/>
          <p:cNvSpPr/>
          <p:nvPr/>
        </p:nvSpPr>
        <p:spPr>
          <a:xfrm>
            <a:off x="4321175" y="1571625"/>
            <a:ext cx="3549650" cy="2308225"/>
          </a:xfrm>
          <a:prstGeom prst="roundRect">
            <a:avLst>
              <a:gd name="adj" fmla="val 4264"/>
            </a:avLst>
          </a:prstGeom>
          <a:solidFill>
            <a:srgbClr val="FFFEFB"/>
          </a:solidFill>
          <a:ln w="6350">
            <a:solidFill>
              <a:srgbClr val="E2DED4"/>
            </a:solidFill>
            <a:prstDash val="solid"/>
          </a:ln>
        </p:spPr>
      </p:sp>
      <p:sp>
        <p:nvSpPr>
          <p:cNvPr id="13" name="Shape 11"/>
          <p:cNvSpPr/>
          <p:nvPr/>
        </p:nvSpPr>
        <p:spPr>
          <a:xfrm>
            <a:off x="4476750" y="1727200"/>
            <a:ext cx="355600" cy="38100"/>
          </a:xfrm>
          <a:prstGeom prst="roundRect">
            <a:avLst>
              <a:gd name="adj" fmla="val 50000"/>
            </a:avLst>
          </a:prstGeom>
          <a:solidFill>
            <a:srgbClr val="2A9D8F"/>
          </a:solidFill>
          <a:ln/>
        </p:spPr>
      </p:sp>
      <p:sp>
        <p:nvSpPr>
          <p:cNvPr id="14" name="Text 12"/>
          <p:cNvSpPr/>
          <p:nvPr/>
        </p:nvSpPr>
        <p:spPr>
          <a:xfrm>
            <a:off x="4476750" y="1828800"/>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Design decisions</a:t>
            </a:r>
            <a:endParaRPr lang="en-US" sz="1500" dirty="0"/>
          </a:p>
        </p:txBody>
      </p:sp>
      <p:sp>
        <p:nvSpPr>
          <p:cNvPr id="15" name="Text 13"/>
          <p:cNvSpPr/>
          <p:nvPr/>
        </p:nvSpPr>
        <p:spPr>
          <a:xfrm>
            <a:off x="4575556" y="2120900"/>
            <a:ext cx="3229229" cy="1213644"/>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Availability computed, never stored: freeing a copy is automatic</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Check and insert in one locked transaction</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One transition table; other moves refused</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Overdue loans block their copy until returned</a:t>
            </a:r>
            <a:endParaRPr lang="en-US" sz="1200" dirty="0"/>
          </a:p>
        </p:txBody>
      </p:sp>
      <p:sp>
        <p:nvSpPr>
          <p:cNvPr id="16" name="Shape 14"/>
          <p:cNvSpPr/>
          <p:nvPr/>
        </p:nvSpPr>
        <p:spPr>
          <a:xfrm>
            <a:off x="8029575" y="1571625"/>
            <a:ext cx="3549650" cy="2308225"/>
          </a:xfrm>
          <a:prstGeom prst="roundRect">
            <a:avLst>
              <a:gd name="adj" fmla="val 4264"/>
            </a:avLst>
          </a:prstGeom>
          <a:solidFill>
            <a:srgbClr val="FFFEFB"/>
          </a:solidFill>
          <a:ln w="6350">
            <a:solidFill>
              <a:srgbClr val="E2DED4"/>
            </a:solidFill>
            <a:prstDash val="solid"/>
          </a:ln>
        </p:spPr>
      </p:sp>
      <p:sp>
        <p:nvSpPr>
          <p:cNvPr id="17" name="Shape 15"/>
          <p:cNvSpPr/>
          <p:nvPr/>
        </p:nvSpPr>
        <p:spPr>
          <a:xfrm>
            <a:off x="8185150" y="1727200"/>
            <a:ext cx="355600" cy="38100"/>
          </a:xfrm>
          <a:prstGeom prst="roundRect">
            <a:avLst>
              <a:gd name="adj" fmla="val 50000"/>
            </a:avLst>
          </a:prstGeom>
          <a:solidFill>
            <a:srgbClr val="E76F51"/>
          </a:solidFill>
          <a:ln/>
        </p:spPr>
      </p:sp>
      <p:sp>
        <p:nvSpPr>
          <p:cNvPr id="18" name="Text 16"/>
          <p:cNvSpPr/>
          <p:nvPr/>
        </p:nvSpPr>
        <p:spPr>
          <a:xfrm>
            <a:off x="8185150" y="1828800"/>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Key trade-offs</a:t>
            </a:r>
            <a:endParaRPr lang="en-US" sz="1500" dirty="0"/>
          </a:p>
        </p:txBody>
      </p:sp>
      <p:sp>
        <p:nvSpPr>
          <p:cNvPr id="19" name="Text 17"/>
          <p:cNvSpPr/>
          <p:nvPr/>
        </p:nvSpPr>
        <p:spPr>
          <a:xfrm>
            <a:off x="8283956" y="2120900"/>
            <a:ext cx="3229229" cy="1213644"/>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Copy held at submit: fair, but waits on review</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Priority closes pending clashes: fast, no librarian say</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No login: quick demo, self-chosen identity</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SQLite: transactional, one machine</a:t>
            </a:r>
            <a:endParaRPr lang="en-US" sz="1200" dirty="0"/>
          </a:p>
        </p:txBody>
      </p:sp>
      <p:sp>
        <p:nvSpPr>
          <p:cNvPr id="20" name="Shape 18"/>
          <p:cNvSpPr/>
          <p:nvPr/>
        </p:nvSpPr>
        <p:spPr>
          <a:xfrm>
            <a:off x="612775" y="4038600"/>
            <a:ext cx="3549650" cy="2308225"/>
          </a:xfrm>
          <a:prstGeom prst="roundRect">
            <a:avLst>
              <a:gd name="adj" fmla="val 4264"/>
            </a:avLst>
          </a:prstGeom>
          <a:solidFill>
            <a:srgbClr val="FFFEFB"/>
          </a:solidFill>
          <a:ln w="6350">
            <a:solidFill>
              <a:srgbClr val="E2DED4"/>
            </a:solidFill>
            <a:prstDash val="solid"/>
          </a:ln>
        </p:spPr>
      </p:sp>
      <p:sp>
        <p:nvSpPr>
          <p:cNvPr id="21" name="Shape 19"/>
          <p:cNvSpPr/>
          <p:nvPr/>
        </p:nvSpPr>
        <p:spPr>
          <a:xfrm>
            <a:off x="768350" y="4194175"/>
            <a:ext cx="355600" cy="38100"/>
          </a:xfrm>
          <a:prstGeom prst="roundRect">
            <a:avLst>
              <a:gd name="adj" fmla="val 50000"/>
            </a:avLst>
          </a:prstGeom>
          <a:solidFill>
            <a:srgbClr val="E76F51"/>
          </a:solidFill>
          <a:ln/>
        </p:spPr>
      </p:sp>
      <p:sp>
        <p:nvSpPr>
          <p:cNvPr id="22" name="Text 20"/>
          <p:cNvSpPr/>
          <p:nvPr/>
        </p:nvSpPr>
        <p:spPr>
          <a:xfrm>
            <a:off x="768350" y="4295775"/>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Known limitations</a:t>
            </a:r>
            <a:endParaRPr lang="en-US" sz="1500" dirty="0"/>
          </a:p>
        </p:txBody>
      </p:sp>
      <p:sp>
        <p:nvSpPr>
          <p:cNvPr id="23" name="Text 21"/>
          <p:cNvSpPr/>
          <p:nvPr/>
        </p:nvSpPr>
        <p:spPr>
          <a:xfrm>
            <a:off x="867156" y="4587875"/>
            <a:ext cx="3229229" cy="1015603"/>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No auto-reassignment if a reserved copy breaks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Demo clock shared by the whole app</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No waitlist or renewals yet</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Single local instance, no login</a:t>
            </a:r>
            <a:endParaRPr lang="en-US" sz="1200" dirty="0"/>
          </a:p>
        </p:txBody>
      </p:sp>
      <p:sp>
        <p:nvSpPr>
          <p:cNvPr id="24" name="Shape 22"/>
          <p:cNvSpPr/>
          <p:nvPr/>
        </p:nvSpPr>
        <p:spPr>
          <a:xfrm>
            <a:off x="4321175" y="4038600"/>
            <a:ext cx="3549650" cy="2308225"/>
          </a:xfrm>
          <a:prstGeom prst="roundRect">
            <a:avLst>
              <a:gd name="adj" fmla="val 4264"/>
            </a:avLst>
          </a:prstGeom>
          <a:solidFill>
            <a:srgbClr val="FFFEFB"/>
          </a:solidFill>
          <a:ln w="6350">
            <a:solidFill>
              <a:srgbClr val="E2DED4"/>
            </a:solidFill>
            <a:prstDash val="solid"/>
          </a:ln>
        </p:spPr>
      </p:sp>
      <p:sp>
        <p:nvSpPr>
          <p:cNvPr id="25" name="Shape 23"/>
          <p:cNvSpPr/>
          <p:nvPr/>
        </p:nvSpPr>
        <p:spPr>
          <a:xfrm>
            <a:off x="4476750" y="4194175"/>
            <a:ext cx="355600" cy="38100"/>
          </a:xfrm>
          <a:prstGeom prst="roundRect">
            <a:avLst>
              <a:gd name="adj" fmla="val 50000"/>
            </a:avLst>
          </a:prstGeom>
          <a:solidFill>
            <a:srgbClr val="1D3557"/>
          </a:solidFill>
          <a:ln/>
        </p:spPr>
      </p:sp>
      <p:sp>
        <p:nvSpPr>
          <p:cNvPr id="26" name="Text 24"/>
          <p:cNvSpPr/>
          <p:nvPr/>
        </p:nvSpPr>
        <p:spPr>
          <a:xfrm>
            <a:off x="4476750" y="4295775"/>
            <a:ext cx="333565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3557"/>
                </a:solidFill>
                <a:latin typeface="Source Serif 4" pitchFamily="18" charset="0"/>
                <a:ea typeface="Source Serif 4" pitchFamily="18" charset="-122"/>
                <a:cs typeface="Source Serif 4" pitchFamily="18" charset="-120"/>
              </a:rPr>
              <a:t>What we would do next</a:t>
            </a:r>
            <a:endParaRPr lang="en-US" sz="1500" dirty="0"/>
          </a:p>
        </p:txBody>
      </p:sp>
      <p:sp>
        <p:nvSpPr>
          <p:cNvPr id="27" name="Text 25"/>
          <p:cNvSpPr/>
          <p:nvPr/>
        </p:nvSpPr>
        <p:spPr>
          <a:xfrm>
            <a:off x="4575556" y="4587875"/>
            <a:ext cx="3229229" cy="817563"/>
          </a:xfrm>
          <a:prstGeom prst="rect">
            <a:avLst/>
          </a:prstGeom>
          <a:noFill/>
          <a:ln/>
        </p:spPr>
        <p:txBody>
          <a:bodyPr wrap="square" lIns="0" tIns="0" rIns="0" bIns="0" rtlCol="0" anchor="t">
            <a:normAutofit/>
          </a:bodyPr>
          <a:lstStyle/>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Waitlist and renewals (customer asked)</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University login and roles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Due-date and overdue reminders</a:t>
            </a:r>
            <a:endParaRPr lang="en-US" sz="1200" dirty="0"/>
          </a:p>
          <a:p>
            <a:pPr algn="l" marL="155194" indent="-155194">
              <a:lnSpc>
                <a:spcPts val="1560"/>
              </a:lnSpc>
              <a:buSzPct val="100000"/>
              <a:buChar char="•"/>
            </a:pPr>
            <a:r>
              <a:rPr lang="en-US" sz="1200" dirty="0">
                <a:solidFill>
                  <a:srgbClr val="3F4B5B"/>
                </a:solidFill>
                <a:latin typeface="IBM Plex Sans" pitchFamily="34" charset="0"/>
                <a:ea typeface="IBM Plex Sans" pitchFamily="34" charset="-122"/>
                <a:cs typeface="IBM Plex Sans" pitchFamily="34" charset="-120"/>
              </a:rPr>
              <a:t>Insights: demand and utilisation</a:t>
            </a:r>
            <a:endParaRPr lang="en-US" sz="1200" dirty="0"/>
          </a:p>
        </p:txBody>
      </p:sp>
    </p:spTree>
  </p:cSld>
  <p:clrMapOvr>
    <a:masterClrMapping/>
  </p:clrMapOvr>
</p:sld>
</file>

<file path=ppt/theme/theme1.xml><?xml version="1.0" encoding="utf-8"?>
<a:theme xmlns:a="http://schemas.openxmlformats.org/drawingml/2006/main" name="Library Management System — Group 3 pitch">
  <a:themeElements>
    <a:clrScheme name="Library Management System — Group 3 pitch">
      <a:dk1>
        <a:srgbClr val="1D3557"/>
      </a:dk1>
      <a:lt1>
        <a:srgbClr val="F8F7F4"/>
      </a:lt1>
      <a:dk2>
        <a:srgbClr val="54667E"/>
      </a:dk2>
      <a:lt2>
        <a:srgbClr val="E2E4E4"/>
      </a:lt2>
      <a:accent1>
        <a:srgbClr val="E76F51"/>
      </a:accent1>
      <a:accent2>
        <a:srgbClr val="2A9D8F"/>
      </a:accent2>
      <a:accent3>
        <a:srgbClr val="1F7A70"/>
      </a:accent3>
      <a:accent4>
        <a:srgbClr val="3F4B5B"/>
      </a:accent4>
      <a:accent5>
        <a:srgbClr val="9AA0A6"/>
      </a:accent5>
      <a:accent6>
        <a:srgbClr val="758396"/>
      </a:accent6>
      <a:hlink>
        <a:srgbClr val="0563C1"/>
      </a:hlink>
      <a:folHlink>
        <a:srgbClr val="954F72"/>
      </a:folHlink>
    </a:clrScheme>
    <a:fontScheme name="Library Management System — Group 3 pitch">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 — Group 3 pitch</dc:title>
  <dc:subject/>
  <dc:creator/>
  <cp:lastModifiedBy/>
  <cp:revision>1</cp:revision>
  <dcterms:created xsi:type="dcterms:W3CDTF">2026-10-14T13:07:20Z</dcterms:created>
  <dcterms:modified xsi:type="dcterms:W3CDTF">2026-10-14T13:07:20Z</dcterms:modified>
</cp:coreProperties>
</file>